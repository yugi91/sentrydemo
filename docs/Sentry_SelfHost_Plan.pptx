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F1B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1B71C"/>
                </a:solidFill>
                <a:latin typeface="Calibri"/>
              </a:rPr>
              <a:t>INFRASTRUCTURE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Sentry Self-Hosted cho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Mobile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728655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Triển khai · Cấu hình · Vận hành · Capacity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72865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F1B71C"/>
                </a:solidFill>
                <a:latin typeface="Calibri"/>
              </a:rPr>
              <a:t>Phương án thay thế: GlitchTip backend + Sentry SDK client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802575" y="49377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85455" y="507492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62D59"/>
                </a:solidFill>
                <a:latin typeface="Calibri"/>
              </a:rPr>
              <a:t>Quy mô triển khai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544068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C2C2C"/>
                </a:solidFill>
                <a:latin typeface="Calibri"/>
              </a:rPr>
              <a:t>~5,000 → 10,000 thiết bị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5455" y="589788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Tăng trưởng trong năm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Pula · Mobile Platform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F1B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Tại sao cần Observability cho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Crash, ANR, performance bug khó debug khi xảy ra trên thiết bị thật trong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577840" cy="411480"/>
          </a:xfrm>
          <a:prstGeom prst="rect">
            <a:avLst/>
          </a:prstGeom>
          <a:solidFill>
            <a:srgbClr val="584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577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  Pain points hiện tại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530352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C0392B"/>
                </a:solidFill>
              </a:rPr>
              <a:t>• </a:t>
            </a:r>
            <a:r>
              <a:rPr sz="1500" b="0">
                <a:solidFill>
                  <a:srgbClr val="2C2C2C"/>
                </a:solidFill>
                <a:latin typeface="Calibri"/>
              </a:rPr>
              <a:t>Crash on prod</a:t>
            </a:r>
            <a:r>
              <a:rPr sz="1500">
                <a:solidFill>
                  <a:srgbClr val="666666"/>
                </a:solidFill>
                <a:latin typeface="Calibri"/>
              </a:rPr>
              <a:t> — user report bằng tay, không có stacktrace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C0392B"/>
                </a:solidFill>
              </a:rPr>
              <a:t>• </a:t>
            </a:r>
            <a:r>
              <a:rPr sz="1500" b="0">
                <a:solidFill>
                  <a:srgbClr val="2C2C2C"/>
                </a:solidFill>
                <a:latin typeface="Calibri"/>
              </a:rPr>
              <a:t>ANR / freeze</a:t>
            </a:r>
            <a:r>
              <a:rPr sz="1500">
                <a:solidFill>
                  <a:srgbClr val="666666"/>
                </a:solidFill>
                <a:latin typeface="Calibri"/>
              </a:rPr>
              <a:t> — không biết tần suất, không biết thread nào bị block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C0392B"/>
                </a:solidFill>
              </a:rPr>
              <a:t>• </a:t>
            </a:r>
            <a:r>
              <a:rPr sz="1500" b="0">
                <a:solidFill>
                  <a:srgbClr val="2C2C2C"/>
                </a:solidFill>
                <a:latin typeface="Calibri"/>
              </a:rPr>
              <a:t>Slow screen</a:t>
            </a:r>
            <a:r>
              <a:rPr sz="1500">
                <a:solidFill>
                  <a:srgbClr val="666666"/>
                </a:solidFill>
                <a:latin typeface="Calibri"/>
              </a:rPr>
              <a:t> — không có baseline, không biết regression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C0392B"/>
                </a:solidFill>
              </a:rPr>
              <a:t>• </a:t>
            </a:r>
            <a:r>
              <a:rPr sz="1500" b="0">
                <a:solidFill>
                  <a:srgbClr val="2C2C2C"/>
                </a:solidFill>
                <a:latin typeface="Calibri"/>
              </a:rPr>
              <a:t>Workflow lỗi</a:t>
            </a:r>
            <a:r>
              <a:rPr sz="1500">
                <a:solidFill>
                  <a:srgbClr val="666666"/>
                </a:solidFill>
                <a:latin typeface="Calibri"/>
              </a:rPr>
              <a:t> — capture → save → sync ở step nào fail?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C0392B"/>
                </a:solidFill>
              </a:rPr>
              <a:t>• </a:t>
            </a:r>
            <a:r>
              <a:rPr sz="1500" b="0">
                <a:solidFill>
                  <a:srgbClr val="2C2C2C"/>
                </a:solidFill>
                <a:latin typeface="Calibri"/>
              </a:rPr>
              <a:t>Không có context</a:t>
            </a:r>
            <a:r>
              <a:rPr sz="1500">
                <a:solidFill>
                  <a:srgbClr val="666666"/>
                </a:solidFill>
                <a:latin typeface="Calibri"/>
              </a:rPr>
              <a:t> — device, RAM, version, network khi sự cố xảy ra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C0392B"/>
                </a:solidFill>
              </a:rPr>
              <a:t>• </a:t>
            </a:r>
            <a:r>
              <a:rPr sz="1500" b="0">
                <a:solidFill>
                  <a:srgbClr val="2C2C2C"/>
                </a:solidFill>
                <a:latin typeface="Calibri"/>
              </a:rPr>
              <a:t>MTTR cao</a:t>
            </a:r>
            <a:r>
              <a:rPr sz="1500">
                <a:solidFill>
                  <a:srgbClr val="666666"/>
                </a:solidFill>
                <a:latin typeface="Calibri"/>
              </a:rPr>
              <a:t> — reproduce trên máy dev mất nhiều giờ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5577840" cy="41148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463040"/>
            <a:ext cx="5577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  Sentry giải quyết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30352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1E8E3E"/>
                </a:solidFill>
              </a:rPr>
              <a:t>• </a:t>
            </a:r>
            <a:r>
              <a:rPr sz="1500" b="0">
                <a:solidFill>
                  <a:srgbClr val="2C2C2C"/>
                </a:solidFill>
                <a:latin typeface="Calibri"/>
              </a:rPr>
              <a:t>Issues</a:t>
            </a:r>
            <a:r>
              <a:rPr sz="1500">
                <a:solidFill>
                  <a:srgbClr val="666666"/>
                </a:solidFill>
                <a:latin typeface="Calibri"/>
              </a:rPr>
              <a:t> — crash + ANR tự động ship khi user mở lại app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1E8E3E"/>
                </a:solidFill>
              </a:rPr>
              <a:t>• </a:t>
            </a:r>
            <a:r>
              <a:rPr sz="1500" b="0">
                <a:solidFill>
                  <a:srgbClr val="2C2C2C"/>
                </a:solidFill>
                <a:latin typeface="Calibri"/>
              </a:rPr>
              <a:t>Performance</a:t>
            </a:r>
            <a:r>
              <a:rPr sz="1500">
                <a:solidFill>
                  <a:srgbClr val="666666"/>
                </a:solidFill>
                <a:latin typeface="Calibri"/>
              </a:rPr>
              <a:t> — transactions + spans cho từng workflow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1E8E3E"/>
                </a:solidFill>
              </a:rPr>
              <a:t>• </a:t>
            </a:r>
            <a:r>
              <a:rPr sz="1500" b="0">
                <a:solidFill>
                  <a:srgbClr val="2C2C2C"/>
                </a:solidFill>
                <a:latin typeface="Calibri"/>
              </a:rPr>
              <a:t>Profiles</a:t>
            </a:r>
            <a:r>
              <a:rPr sz="1500">
                <a:solidFill>
                  <a:srgbClr val="666666"/>
                </a:solidFill>
                <a:latin typeface="Calibri"/>
              </a:rPr>
              <a:t> — flame graph CPU per screen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1E8E3E"/>
                </a:solidFill>
              </a:rPr>
              <a:t>• </a:t>
            </a:r>
            <a:r>
              <a:rPr sz="1500" b="0">
                <a:solidFill>
                  <a:srgbClr val="2C2C2C"/>
                </a:solidFill>
                <a:latin typeface="Calibri"/>
              </a:rPr>
              <a:t>Releases</a:t>
            </a:r>
            <a:r>
              <a:rPr sz="1500">
                <a:solidFill>
                  <a:srgbClr val="666666"/>
                </a:solidFill>
                <a:latin typeface="Calibri"/>
              </a:rPr>
              <a:t> — so sánh error rate giữa các version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1E8E3E"/>
                </a:solidFill>
              </a:rPr>
              <a:t>• </a:t>
            </a:r>
            <a:r>
              <a:rPr sz="1500" b="0">
                <a:solidFill>
                  <a:srgbClr val="2C2C2C"/>
                </a:solidFill>
                <a:latin typeface="Calibri"/>
              </a:rPr>
              <a:t>Alerts</a:t>
            </a:r>
            <a:r>
              <a:rPr sz="1500">
                <a:solidFill>
                  <a:srgbClr val="666666"/>
                </a:solidFill>
                <a:latin typeface="Calibri"/>
              </a:rPr>
              <a:t> — Slack/Email khi crash spike vượt ngưỡng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1E8E3E"/>
                </a:solidFill>
              </a:rPr>
              <a:t>• </a:t>
            </a:r>
            <a:r>
              <a:rPr sz="1500" b="0">
                <a:solidFill>
                  <a:srgbClr val="2C2C2C"/>
                </a:solidFill>
                <a:latin typeface="Calibri"/>
              </a:rPr>
              <a:t>Rich context</a:t>
            </a:r>
            <a:r>
              <a:rPr sz="1500">
                <a:solidFill>
                  <a:srgbClr val="666666"/>
                </a:solidFill>
                <a:latin typeface="Calibri"/>
              </a:rPr>
              <a:t> — device, RAM, network, battery, breadcrumbs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Sentry Self-Host · Infra Deployment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F1B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Kiến trúc tổng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Hai phương án backend, client luôn dùng Sentry SDK 8.x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  Phương án A · Sentry Self-Hosted (feature-complete)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2606040" cy="1325880"/>
          </a:xfrm>
          <a:prstGeom prst="rect">
            <a:avLst/>
          </a:prstGeom>
          <a:solidFill>
            <a:srgbClr val="584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47671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Android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5999"/>
            <a:ext cx="24231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Sentry SDK 8.x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Compose · Kotlin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DSN → ingest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81528" y="2473451"/>
            <a:ext cx="192024" cy="128016"/>
          </a:xfrm>
          <a:prstGeom prst="rightArrow">
            <a:avLst/>
          </a:prstGeom>
          <a:solidFill>
            <a:srgbClr val="F1B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874519"/>
            <a:ext cx="2606040" cy="132588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947671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285999"/>
            <a:ext cx="24231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nginx + Relay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HTTPS · dedup · sampling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16168" y="2473451"/>
            <a:ext cx="192024" cy="128016"/>
          </a:xfrm>
          <a:prstGeom prst="rightArrow">
            <a:avLst/>
          </a:prstGeom>
          <a:solidFill>
            <a:srgbClr val="F1B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874519"/>
            <a:ext cx="2606040" cy="132588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947671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Workers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285999"/>
            <a:ext cx="24231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Web UI · Celery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Snuba · Symbolicator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Vroom · Taskbroker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750808" y="2473451"/>
            <a:ext cx="192024" cy="128016"/>
          </a:xfrm>
          <a:prstGeom prst="rightArrow">
            <a:avLst/>
          </a:prstGeom>
          <a:solidFill>
            <a:srgbClr val="F1B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874519"/>
            <a:ext cx="2606040" cy="1325880"/>
          </a:xfrm>
          <a:prstGeom prst="rect">
            <a:avLst/>
          </a:prstGeom>
          <a:solidFill>
            <a:srgbClr val="584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947671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285999"/>
            <a:ext cx="24231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Postgres · Clickhouse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Kafka · Redis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57600"/>
            <a:ext cx="11247120" cy="41148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657600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  Phương án B · GlitchTip backend (Sentry-API compatible, lightweight)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60520"/>
            <a:ext cx="2606040" cy="1325880"/>
          </a:xfrm>
          <a:prstGeom prst="rect">
            <a:avLst/>
          </a:prstGeom>
          <a:solidFill>
            <a:srgbClr val="584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233672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Android Client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72000"/>
            <a:ext cx="24231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VẪN dùng Sentry SDK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Không sửa code app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Chỉ đổi DSN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081528" y="4759452"/>
            <a:ext cx="192024" cy="128016"/>
          </a:xfrm>
          <a:prstGeom prst="rightArrow">
            <a:avLst/>
          </a:prstGeom>
          <a:solidFill>
            <a:srgbClr val="F1B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4160520"/>
            <a:ext cx="2606040" cy="132588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4233672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GlitchTip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572000"/>
            <a:ext cx="24231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Django app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Ingestion + Issues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916168" y="4759452"/>
            <a:ext cx="192024" cy="128016"/>
          </a:xfrm>
          <a:prstGeom prst="rightArrow">
            <a:avLst/>
          </a:prstGeom>
          <a:solidFill>
            <a:srgbClr val="F1B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4160520"/>
            <a:ext cx="2606040" cy="132588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4233672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Workers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572000"/>
            <a:ext cx="24231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Celery beat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Processing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750808" y="4759452"/>
            <a:ext cx="192024" cy="128016"/>
          </a:xfrm>
          <a:prstGeom prst="rightArrow">
            <a:avLst/>
          </a:prstGeom>
          <a:solidFill>
            <a:srgbClr val="F1B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61120" y="4160520"/>
            <a:ext cx="2606040" cy="1325880"/>
          </a:xfrm>
          <a:prstGeom prst="rect">
            <a:avLst/>
          </a:prstGeom>
          <a:solidFill>
            <a:srgbClr val="584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4233672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4572000"/>
            <a:ext cx="24231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Postgres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Redis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760720"/>
            <a:ext cx="11247120" cy="68580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Calibri"/>
              </a:rPr>
              <a:t>Điểm chung: client Android dùng cùng SDK Sentry 8.x · cùng DSN format · cùng cách init.</a:t>
            </a:r>
          </a:p>
          <a:p>
            <a:pPr algn="l"/>
            <a:r>
              <a:rPr sz="1200" b="0">
                <a:solidFill>
                  <a:srgbClr val="2C2C2C"/>
                </a:solidFill>
                <a:latin typeface="Calibri"/>
              </a:rPr>
              <a:t>Backend chỉ là deployment choice — có thể switch giữa Sentry và GlitchTip mà không sửa code app.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Sentry Self-Host · Infra Deployment Plan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F1B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Yêu cầu cấu hình hạ tầng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Sentry Self-Hosted · áp dụng cho 5–10k thiết bị · feature-complete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362D59"/>
                </a:solidFill>
                <a:latin typeface="Calibri"/>
              </a:rPr>
              <a:t>Phần cứng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743200"/>
                <a:gridCol w="3200400"/>
                <a:gridCol w="3200400"/>
              </a:tblGrid>
              <a:tr h="320040">
                <a:tc>
                  <a:txBody>
                    <a:bodyPr rIns="4572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>
                    <a:solidFill>
                      <a:srgbClr val="362D59"/>
                    </a:solidFill>
                  </a:tcPr>
                </a:tc>
                <a:tc>
                  <a:txBody>
                    <a:bodyPr rIns="4572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Tối thiểu (upstream)</a:t>
                      </a:r>
                    </a:p>
                  </a:txBody>
                  <a:tcPr>
                    <a:solidFill>
                      <a:srgbClr val="362D59"/>
                    </a:solidFill>
                  </a:tcPr>
                </a:tc>
                <a:tc>
                  <a:txBody>
                    <a:bodyPr rIns="4572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Khuyến nghị cho 5k devices</a:t>
                      </a:r>
                    </a:p>
                  </a:txBody>
                  <a:tcPr>
                    <a:solidFill>
                      <a:srgbClr val="362D59"/>
                    </a:solidFill>
                  </a:tcPr>
                </a:tc>
                <a:tc>
                  <a:txBody>
                    <a:bodyPr rIns="4572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Khuyến nghị cho 10k devices</a:t>
                      </a:r>
                    </a:p>
                  </a:txBody>
                  <a:tcPr>
                    <a:solidFill>
                      <a:srgbClr val="362D59"/>
                    </a:solidFill>
                  </a:tcPr>
                </a:tc>
              </a:tr>
              <a:tr h="320040">
                <a:tc>
                  <a:txBody>
                    <a:bodyPr rIns="45720"/>
                    <a:lstStyle/>
                    <a:p>
                      <a:r>
                        <a:rPr sz="1200" b="1">
                          <a:solidFill>
                            <a:srgbClr val="2C2C2C"/>
                          </a:solidFill>
                          <a:latin typeface="Calibri"/>
                        </a:rPr>
                        <a:t>CPU cores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rIns="45720"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rIns="45720"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8 cores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rIns="45720"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8–16 cores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rIns="45720"/>
                    <a:lstStyle/>
                    <a:p>
                      <a:r>
                        <a:rPr sz="1200" b="1">
                          <a:solidFill>
                            <a:srgbClr val="2C2C2C"/>
                          </a:solidFill>
                          <a:latin typeface="Calibri"/>
                        </a:rPr>
                        <a:t>RAM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 rIns="45720"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16 GB + 16 GB swap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 rIns="45720"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32 GB + 16 GB swap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 rIns="45720"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32–64 GB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</a:tr>
              <a:tr h="320040">
                <a:tc>
                  <a:txBody>
                    <a:bodyPr rIns="45720"/>
                    <a:lstStyle/>
                    <a:p>
                      <a:r>
                        <a:rPr sz="1200" b="1">
                          <a:solidFill>
                            <a:srgbClr val="2C2C2C"/>
                          </a:solidFill>
                          <a:latin typeface="Calibri"/>
                        </a:rPr>
                        <a:t>Disk (SSD)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rIns="45720"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20 GB 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rIns="45720"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200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rIns="45720"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500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rIns="45720"/>
                    <a:lstStyle/>
                    <a:p>
                      <a:r>
                        <a:rPr sz="1200" b="1">
                          <a:solidFill>
                            <a:srgbClr val="2C2C2C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 rIns="45720"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1 Gbps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 rIns="45720"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1 Gbps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 rIns="45720"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1 Gbps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</a:tr>
              <a:tr h="320040">
                <a:tc>
                  <a:txBody>
                    <a:bodyPr rIns="45720"/>
                    <a:lstStyle/>
                    <a:p>
                      <a:r>
                        <a:rPr sz="1200" b="1">
                          <a:solidFill>
                            <a:srgbClr val="2C2C2C"/>
                          </a:solidFill>
                          <a:latin typeface="Calibri"/>
                        </a:rPr>
                        <a:t>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rIns="45720"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Linux + Docker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rIns="45720"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Ubuntu 22.04 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rIns="45720"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Ubuntu 22.04 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79476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362D59"/>
                </a:solidFill>
                <a:latin typeface="Calibri"/>
              </a:rPr>
              <a:t>Phần mềm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56692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362D59"/>
                </a:solidFill>
              </a:rPr>
              <a:t>• </a:t>
            </a:r>
            <a:r>
              <a:rPr sz="1300" b="0">
                <a:solidFill>
                  <a:srgbClr val="2C2C2C"/>
                </a:solidFill>
                <a:latin typeface="Calibri"/>
              </a:rPr>
              <a:t>Docker Engine 19.03.6+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62D59"/>
                </a:solidFill>
              </a:rPr>
              <a:t>• </a:t>
            </a:r>
            <a:r>
              <a:rPr sz="1300" b="0">
                <a:solidFill>
                  <a:srgbClr val="2C2C2C"/>
                </a:solidFill>
                <a:latin typeface="Calibri"/>
              </a:rPr>
              <a:t>Docker Compose v2.32.2+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62D59"/>
                </a:solidFill>
              </a:rPr>
              <a:t>• </a:t>
            </a:r>
            <a:r>
              <a:rPr sz="1300" b="0">
                <a:solidFill>
                  <a:srgbClr val="2C2C2C"/>
                </a:solidFill>
                <a:latin typeface="Calibri"/>
              </a:rPr>
              <a:t>Git 2.x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62D59"/>
                </a:solidFill>
              </a:rPr>
              <a:t>• </a:t>
            </a:r>
            <a:r>
              <a:rPr sz="1300" b="0">
                <a:solidFill>
                  <a:srgbClr val="2C2C2C"/>
                </a:solidFill>
                <a:latin typeface="Calibri"/>
              </a:rPr>
              <a:t>Bash · curl · openssl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62D59"/>
                </a:solidFill>
              </a:rPr>
              <a:t>• </a:t>
            </a:r>
            <a:r>
              <a:rPr sz="1300" b="0">
                <a:solidFill>
                  <a:srgbClr val="2C2C2C"/>
                </a:solidFill>
                <a:latin typeface="Calibri"/>
              </a:rPr>
              <a:t>Reverse proxy: Caddy / Nginx / Traefik (cho HTTPS)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62D59"/>
                </a:solidFill>
              </a:rPr>
              <a:t>• </a:t>
            </a:r>
            <a:r>
              <a:rPr sz="1300" b="0">
                <a:solidFill>
                  <a:srgbClr val="2C2C2C"/>
                </a:solidFill>
                <a:latin typeface="Calibri"/>
              </a:rPr>
              <a:t>Firewall: ufw / iptables (chặn port 9000 từ ngoài)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79476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362D59"/>
                </a:solidFill>
                <a:latin typeface="Calibri"/>
              </a:rPr>
              <a:t>Network &amp;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114800"/>
            <a:ext cx="56692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362D59"/>
                </a:solidFill>
              </a:rPr>
              <a:t>• </a:t>
            </a:r>
            <a:r>
              <a:rPr sz="1300" b="0">
                <a:solidFill>
                  <a:srgbClr val="2C2C2C"/>
                </a:solidFill>
                <a:latin typeface="Calibri"/>
              </a:rPr>
              <a:t>Domain + DNS A record: sentry.pula.io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62D59"/>
                </a:solidFill>
              </a:rPr>
              <a:t>• </a:t>
            </a:r>
            <a:r>
              <a:rPr sz="1300" b="0">
                <a:solidFill>
                  <a:srgbClr val="2C2C2C"/>
                </a:solidFill>
                <a:latin typeface="Calibri"/>
              </a:rPr>
              <a:t>TLS certificate (Let's Encrypt / company CA)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62D59"/>
                </a:solidFill>
              </a:rPr>
              <a:t>• </a:t>
            </a:r>
            <a:r>
              <a:rPr sz="1300" b="0">
                <a:solidFill>
                  <a:srgbClr val="2C2C2C"/>
                </a:solidFill>
                <a:latin typeface="Calibri"/>
              </a:rPr>
              <a:t>Bind Sentry: 127.0.0.1:9000 (loopback only)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62D59"/>
                </a:solidFill>
              </a:rPr>
              <a:t>• </a:t>
            </a:r>
            <a:r>
              <a:rPr sz="1300" b="0">
                <a:solidFill>
                  <a:srgbClr val="2C2C2C"/>
                </a:solidFill>
                <a:latin typeface="Calibri"/>
              </a:rPr>
              <a:t>Expose qua reverse proxy: 443/HTTPS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62D59"/>
                </a:solidFill>
              </a:rPr>
              <a:t>• </a:t>
            </a:r>
            <a:r>
              <a:rPr sz="1300" b="0">
                <a:solidFill>
                  <a:srgbClr val="2C2C2C"/>
                </a:solidFill>
                <a:latin typeface="Calibri"/>
              </a:rPr>
              <a:t>SMTP outbound: 587 (cho alert email)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62D59"/>
                </a:solidFill>
              </a:rPr>
              <a:t>• </a:t>
            </a:r>
            <a:r>
              <a:rPr sz="1300" b="0">
                <a:solidFill>
                  <a:srgbClr val="2C2C2C"/>
                </a:solidFill>
                <a:latin typeface="Calibri"/>
              </a:rPr>
              <a:t>Bandwidth: ước tính ~2–5 GB/ngày upload từ 10k devices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Sentry Self-Host · Infra Deployment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F1B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Quy trình triển khai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5 bước · từ box trống đến Sentry sẵn sàng nhận event</a:t>
            </a:r>
          </a:p>
        </p:txBody>
      </p:sp>
      <p:sp>
        <p:nvSpPr>
          <p:cNvPr id="6" name="Oval 5"/>
          <p:cNvSpPr/>
          <p:nvPr/>
        </p:nvSpPr>
        <p:spPr>
          <a:xfrm>
            <a:off x="952347" y="1508760"/>
            <a:ext cx="777240" cy="777240"/>
          </a:xfrm>
          <a:prstGeom prst="ellipse">
            <a:avLst/>
          </a:prstGeom>
          <a:solidFill>
            <a:srgbClr val="F1B71C"/>
          </a:solidFill>
          <a:ln w="25400">
            <a:solidFill>
              <a:srgbClr val="362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362D59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243687" y="2423160"/>
            <a:ext cx="2194560" cy="237744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3687" y="2423160"/>
            <a:ext cx="2194560" cy="45720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127" y="242316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Chuẩn bị host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847" y="2971800"/>
            <a:ext cx="192024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onsolas"/>
              </a:rPr>
              <a:t>Cài Docker + Compose v2</a:t>
            </a:r>
          </a:p>
          <a:p>
            <a:pPr algn="l"/>
            <a:r>
              <a:rPr sz="1100" b="0">
                <a:solidFill>
                  <a:srgbClr val="2C2C2C"/>
                </a:solidFill>
                <a:latin typeface="Consolas"/>
              </a:rPr>
              <a:t>Mở port qua reverse proxy</a:t>
            </a:r>
          </a:p>
          <a:p>
            <a:pPr algn="l"/>
            <a:r>
              <a:rPr sz="1100" b="0">
                <a:solidFill>
                  <a:srgbClr val="2C2C2C"/>
                </a:solidFill>
                <a:latin typeface="Consolas"/>
              </a:rPr>
              <a:t>Mount disk SSD ≥200GB</a:t>
            </a:r>
          </a:p>
        </p:txBody>
      </p:sp>
      <p:sp>
        <p:nvSpPr>
          <p:cNvPr id="11" name="Oval 10"/>
          <p:cNvSpPr/>
          <p:nvPr/>
        </p:nvSpPr>
        <p:spPr>
          <a:xfrm>
            <a:off x="3329787" y="1508760"/>
            <a:ext cx="777240" cy="777240"/>
          </a:xfrm>
          <a:prstGeom prst="ellipse">
            <a:avLst/>
          </a:prstGeom>
          <a:solidFill>
            <a:srgbClr val="F1B71C"/>
          </a:solidFill>
          <a:ln w="25400">
            <a:solidFill>
              <a:srgbClr val="362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362D59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1127" y="2423160"/>
            <a:ext cx="2194560" cy="237744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21127" y="2423160"/>
            <a:ext cx="2194560" cy="45720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12567" y="242316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Bootstrap Sentry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8287" y="2971800"/>
            <a:ext cx="192024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onsolas"/>
              </a:rPr>
              <a:t>git clone repo wrapper</a:t>
            </a:r>
          </a:p>
          <a:p>
            <a:pPr algn="l"/>
            <a:r>
              <a:rPr sz="1100" b="0">
                <a:solidFill>
                  <a:srgbClr val="2C2C2C"/>
                </a:solidFill>
                <a:latin typeface="Consolas"/>
              </a:rPr>
              <a:t>cd sentry-selfhost</a:t>
            </a:r>
          </a:p>
          <a:p>
            <a:pPr algn="l"/>
            <a:r>
              <a:rPr sz="1100" b="0">
                <a:solidFill>
                  <a:srgbClr val="2C2C2C"/>
                </a:solidFill>
                <a:latin typeface="Consolas"/>
              </a:rPr>
              <a:t>./setup.sh (clone upstream, install)</a:t>
            </a:r>
          </a:p>
        </p:txBody>
      </p:sp>
      <p:sp>
        <p:nvSpPr>
          <p:cNvPr id="16" name="Oval 15"/>
          <p:cNvSpPr/>
          <p:nvPr/>
        </p:nvSpPr>
        <p:spPr>
          <a:xfrm>
            <a:off x="5707227" y="1508760"/>
            <a:ext cx="777240" cy="777240"/>
          </a:xfrm>
          <a:prstGeom prst="ellipse">
            <a:avLst/>
          </a:prstGeom>
          <a:solidFill>
            <a:srgbClr val="F1B71C"/>
          </a:solidFill>
          <a:ln w="25400">
            <a:solidFill>
              <a:srgbClr val="362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362D59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98567" y="2423160"/>
            <a:ext cx="2194560" cy="237744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98567" y="2423160"/>
            <a:ext cx="2194560" cy="45720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90007" y="242316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Tạo superuser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5727" y="2971800"/>
            <a:ext cx="192024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onsolas"/>
              </a:rPr>
              <a:t>docker compose run --rm web</a:t>
            </a:r>
          </a:p>
          <a:p>
            <a:pPr algn="l"/>
            <a:r>
              <a:rPr sz="1100" b="0">
                <a:solidFill>
                  <a:srgbClr val="2C2C2C"/>
                </a:solidFill>
                <a:latin typeface="Consolas"/>
              </a:rPr>
              <a:t>  createuser (email + password)</a:t>
            </a:r>
          </a:p>
          <a:p>
            <a:pPr algn="l"/>
            <a:r>
              <a:rPr sz="1100" b="0">
                <a:solidFill>
                  <a:srgbClr val="2C2C2C"/>
                </a:solidFill>
                <a:latin typeface="Consolas"/>
              </a:rPr>
              <a:t>Disable self-registration</a:t>
            </a:r>
          </a:p>
        </p:txBody>
      </p:sp>
      <p:sp>
        <p:nvSpPr>
          <p:cNvPr id="21" name="Oval 20"/>
          <p:cNvSpPr/>
          <p:nvPr/>
        </p:nvSpPr>
        <p:spPr>
          <a:xfrm>
            <a:off x="8084667" y="1508760"/>
            <a:ext cx="777240" cy="777240"/>
          </a:xfrm>
          <a:prstGeom prst="ellipse">
            <a:avLst/>
          </a:prstGeom>
          <a:solidFill>
            <a:srgbClr val="F1B71C"/>
          </a:solidFill>
          <a:ln w="25400">
            <a:solidFill>
              <a:srgbClr val="362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362D59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76007" y="2423160"/>
            <a:ext cx="2194560" cy="237744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76007" y="2423160"/>
            <a:ext cx="2194560" cy="45720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67447" y="242316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Khởi động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3167" y="2971800"/>
            <a:ext cx="192024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onsolas"/>
              </a:rPr>
              <a:t>docker compose up -d</a:t>
            </a:r>
          </a:p>
          <a:p>
            <a:pPr algn="l"/>
            <a:r>
              <a:rPr sz="1100" b="0">
                <a:solidFill>
                  <a:srgbClr val="2C2C2C"/>
                </a:solidFill>
                <a:latin typeface="Consolas"/>
              </a:rPr>
              <a:t>Chờ 2–3 phút (kafka, clickhouse)</a:t>
            </a:r>
          </a:p>
          <a:p>
            <a:pPr algn="l"/>
            <a:r>
              <a:rPr sz="1100" b="0">
                <a:solidFill>
                  <a:srgbClr val="2C2C2C"/>
                </a:solidFill>
                <a:latin typeface="Consolas"/>
              </a:rPr>
              <a:t>curl /_health/ verify</a:t>
            </a:r>
          </a:p>
        </p:txBody>
      </p:sp>
      <p:sp>
        <p:nvSpPr>
          <p:cNvPr id="26" name="Oval 25"/>
          <p:cNvSpPr/>
          <p:nvPr/>
        </p:nvSpPr>
        <p:spPr>
          <a:xfrm>
            <a:off x="10462107" y="1508760"/>
            <a:ext cx="777240" cy="777240"/>
          </a:xfrm>
          <a:prstGeom prst="ellipse">
            <a:avLst/>
          </a:prstGeom>
          <a:solidFill>
            <a:srgbClr val="F1B71C"/>
          </a:solidFill>
          <a:ln w="25400">
            <a:solidFill>
              <a:srgbClr val="362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362D59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53447" y="2423160"/>
            <a:ext cx="2194560" cy="237744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53447" y="2423160"/>
            <a:ext cx="2194560" cy="45720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44887" y="242316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Tạo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0607" y="2971800"/>
            <a:ext cx="192024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onsolas"/>
              </a:rPr>
              <a:t>Wizard → org + project Android</a:t>
            </a:r>
          </a:p>
          <a:p>
            <a:pPr algn="l"/>
            <a:r>
              <a:rPr sz="1100" b="0">
                <a:solidFill>
                  <a:srgbClr val="2C2C2C"/>
                </a:solidFill>
                <a:latin typeface="Consolas"/>
              </a:rPr>
              <a:t>Copy DSN → local.properties</a:t>
            </a:r>
          </a:p>
          <a:p>
            <a:pPr algn="l"/>
            <a:r>
              <a:rPr sz="1100" b="0">
                <a:solidFill>
                  <a:srgbClr val="2C2C2C"/>
                </a:solidFill>
                <a:latin typeface="Consolas"/>
              </a:rPr>
              <a:t>Trigger event để verify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62D59"/>
                </a:solidFill>
                <a:latin typeface="Calibri"/>
              </a:rPr>
              <a:t>Tổng thời gian: 30–60 phút (lần đầu) · 5–10 phút (re-deploy)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Phần lớn thời gian là image pull (~5 GB) + Clickhouse / Kafka warm-up. Sau lần đầu, các lần sau chỉ là docker compose up -d.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Sentry Self-Host · Infra Deployment Plan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F1B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Tích hợp Sentry SDK vào Android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Gradle dependency · SentryAndroid.init · custom context · workflow spans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6400800" cy="4572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1B71C"/>
                </a:solidFill>
                <a:latin typeface="Calibri"/>
              </a:rPr>
              <a:t>SentryDemoApplication.kt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6035040" cy="3977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@HiltAndroidApp</a:t>
            </a:r>
          </a:p>
          <a:p>
            <a:pPr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class SentryDemoApplication : Application() {</a:t>
            </a:r>
          </a:p>
          <a:p>
            <a:pPr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override fun onCreate() {</a:t>
            </a:r>
          </a:p>
          <a:p>
            <a:pPr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SentryAndroid.init(this) { options -&gt;</a:t>
            </a:r>
          </a:p>
          <a:p>
            <a:pPr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options.dsn = BuildConfig.SENTRY_DSN</a:t>
            </a:r>
          </a:p>
          <a:p>
            <a:pPr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options.environment = "production"</a:t>
            </a:r>
          </a:p>
          <a:p>
            <a:pPr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options.release = "app@${VERSION_NAME}"</a:t>
            </a:r>
          </a:p>
          <a:p>
            <a:pPr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options.tracesSampleRate = 0.10   // 10% prod</a:t>
            </a:r>
          </a:p>
          <a:p>
            <a:pPr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options.profilesSampleRate = 0.05 // 5% prod</a:t>
            </a:r>
          </a:p>
          <a:p>
            <a:pPr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options.isAnrEnabled = true</a:t>
            </a:r>
          </a:p>
          <a:p>
            <a:pPr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options.anrTimeoutIntervalMillis = 5_000</a:t>
            </a:r>
          </a:p>
          <a:p>
            <a:pPr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options.isAttachThreads = true</a:t>
            </a:r>
          </a:p>
          <a:p>
            <a:pPr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options.isSendDefaultPii = false  // GDPR</a:t>
            </a:r>
          </a:p>
          <a:p>
            <a:pPr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}</a:t>
            </a:r>
          </a:p>
          <a:p>
            <a:pPr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super.onCreate()</a:t>
            </a:r>
          </a:p>
          <a:p>
            <a:pPr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enrichDeviceContext()</a:t>
            </a:r>
          </a:p>
          <a:p>
            <a:pPr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}</a:t>
            </a:r>
          </a:p>
          <a:p>
            <a:pPr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371600"/>
            <a:ext cx="4526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62D59"/>
                </a:solidFill>
                <a:latin typeface="Calibri"/>
              </a:rPr>
              <a:t>4 observability signals demo app emit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737360"/>
            <a:ext cx="45262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Crash</a:t>
            </a:r>
            <a:r>
              <a:rPr sz="1200">
                <a:solidFill>
                  <a:srgbClr val="666666"/>
                </a:solidFill>
                <a:latin typeface="Calibri"/>
              </a:rPr>
              <a:t> — uncaught RuntimeException → Issues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ANR</a:t>
            </a:r>
            <a:r>
              <a:rPr sz="1200">
                <a:solidFill>
                  <a:srgbClr val="666666"/>
                </a:solidFill>
                <a:latin typeface="Calibri"/>
              </a:rPr>
              <a:t> — main thread block 8s → ApplicationNotResponding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Delay</a:t>
            </a:r>
            <a:r>
              <a:rPr sz="1200">
                <a:solidFill>
                  <a:srgbClr val="666666"/>
                </a:solidFill>
                <a:latin typeface="Calibri"/>
              </a:rPr>
              <a:t> — transaction delay_action + processing span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Workflow</a:t>
            </a:r>
            <a:r>
              <a:rPr sz="1200">
                <a:solidFill>
                  <a:srgbClr val="666666"/>
                </a:solidFill>
                <a:latin typeface="Calibri"/>
              </a:rPr>
              <a:t> — photo_workflow + 3 child spans với data</a:t>
            </a:r>
          </a:p>
        </p:txBody>
      </p:sp>
      <p:pic>
        <p:nvPicPr>
          <p:cNvPr id="11" name="Picture 10" descr="01_main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840480"/>
            <a:ext cx="1522476" cy="3383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78040" y="5623560"/>
            <a:ext cx="4526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Demo app — 5 buttons exercise mỗi signal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Sentry Self-Host · Infra Deployment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F1B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Tạo tài khoản &amp; smoke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Setup superuser, tạo project, verify ingestion bằng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62D59"/>
                </a:solidFill>
                <a:latin typeface="Calibri"/>
              </a:rPr>
              <a:t>1 · Tạo superuser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486400" cy="9601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52120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docker compose run --rm web \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  createuser \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  --email admin@pula.io \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  --superuser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62D59"/>
                </a:solidFill>
                <a:latin typeface="Calibri"/>
              </a:rPr>
              <a:t>2 · First-run wizard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4864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Đăng nhập http://localhost:9000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Tạo organization (vd. Pula)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Invite team members (RBAC: Admin/Member/Billing)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62D59"/>
                </a:solidFill>
                <a:latin typeface="Calibri"/>
              </a:rPr>
              <a:t>3 · Tạo project Android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560"/>
            <a:ext cx="54864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Settings → Projects → Create Project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Platform: Android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Copy DSN: http://&lt;key&gt;@host:9000/&lt;id&gt;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Paste vào android-app/local.properties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864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62D59"/>
                </a:solidFill>
                <a:latin typeface="Calibri"/>
              </a:rPr>
              <a:t>4 · Smoke test bằng demo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06440"/>
            <a:ext cx="54864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Trigger Delay → check Performance tab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Trigger Photo workflow → 3 spans visible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Trigger Crash → relaunch app → Issues tab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3716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62D59"/>
                </a:solidFill>
                <a:latin typeface="Calibri"/>
              </a:rPr>
              <a:t>Kết quả: event hiển thị trên Sentry UI</a:t>
            </a:r>
          </a:p>
        </p:txBody>
      </p:sp>
      <p:pic>
        <p:nvPicPr>
          <p:cNvPr id="16" name="Picture 15" descr="11_sentry_iss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37360"/>
            <a:ext cx="5486400" cy="289941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63640" y="39319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Issues list — crash &amp; ANR sau khi relaunch</a:t>
            </a:r>
          </a:p>
        </p:txBody>
      </p:sp>
      <p:pic>
        <p:nvPicPr>
          <p:cNvPr id="18" name="Picture 17" descr="12_sentry_crash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297680"/>
            <a:ext cx="5486400" cy="289941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640080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Crash detail — stacktrace + device context tự động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Sentry Self-Host · Infra Deployment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F1B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Đặc biệt lưu ý khi triển khai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Mặc định upstream PHÙ HỢP DEMO, không phải production · checklist bắt buộc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79476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3794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  Bảo mật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3794760" cy="448056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352044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362D59"/>
                </a:solidFill>
              </a:rPr>
              <a:t>• </a:t>
            </a:r>
            <a:r>
              <a:rPr sz="1100" b="1">
                <a:solidFill>
                  <a:srgbClr val="2C2C2C"/>
                </a:solidFill>
                <a:latin typeface="Calibri"/>
              </a:rPr>
              <a:t>TLS bắt buộc</a:t>
            </a:r>
            <a:r>
              <a:rPr sz="1100">
                <a:solidFill>
                  <a:srgbClr val="666666"/>
                </a:solidFill>
                <a:latin typeface="Calibri"/>
              </a:rPr>
              <a:t> — Caddy/Nginx terminate HTTPS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362D59"/>
                </a:solidFill>
              </a:rPr>
              <a:t>• </a:t>
            </a:r>
            <a:r>
              <a:rPr sz="1100" b="1">
                <a:solidFill>
                  <a:srgbClr val="2C2C2C"/>
                </a:solidFill>
                <a:latin typeface="Calibri"/>
              </a:rPr>
              <a:t>Bind 127.0.0.1:9000</a:t>
            </a:r>
            <a:r>
              <a:rPr sz="1100">
                <a:solidFill>
                  <a:srgbClr val="666666"/>
                </a:solidFill>
                <a:latin typeface="Calibri"/>
              </a:rPr>
              <a:t> — không expose port ra public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362D59"/>
                </a:solidFill>
              </a:rPr>
              <a:t>• </a:t>
            </a:r>
            <a:r>
              <a:rPr sz="1100" b="1">
                <a:solidFill>
                  <a:srgbClr val="2C2C2C"/>
                </a:solidFill>
                <a:latin typeface="Calibri"/>
              </a:rPr>
              <a:t>Disable self-registration</a:t>
            </a:r>
            <a:r>
              <a:rPr sz="1100">
                <a:solidFill>
                  <a:srgbClr val="666666"/>
                </a:solidFill>
                <a:latin typeface="Calibri"/>
              </a:rPr>
              <a:t> — auth.allow-registration: false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362D59"/>
                </a:solidFill>
              </a:rPr>
              <a:t>• </a:t>
            </a:r>
            <a:r>
              <a:rPr sz="1100" b="1">
                <a:solidFill>
                  <a:srgbClr val="2C2C2C"/>
                </a:solidFill>
                <a:latin typeface="Calibri"/>
              </a:rPr>
              <a:t>SSO (SAML/OAuth)</a:t>
            </a:r>
            <a:r>
              <a:rPr sz="1100">
                <a:solidFill>
                  <a:srgbClr val="666666"/>
                </a:solidFill>
                <a:latin typeface="Calibri"/>
              </a:rPr>
              <a:t> — tích hợp Google/AD/Okta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362D59"/>
                </a:solidFill>
              </a:rPr>
              <a:t>• </a:t>
            </a:r>
            <a:r>
              <a:rPr sz="1100" b="1">
                <a:solidFill>
                  <a:srgbClr val="2C2C2C"/>
                </a:solidFill>
                <a:latin typeface="Calibri"/>
              </a:rPr>
              <a:t>Auth token rotation</a:t>
            </a:r>
            <a:r>
              <a:rPr sz="1100">
                <a:solidFill>
                  <a:srgbClr val="666666"/>
                </a:solidFill>
                <a:latin typeface="Calibri"/>
              </a:rPr>
              <a:t> — scope tối thiểu (project:releases)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362D59"/>
                </a:solidFill>
              </a:rPr>
              <a:t>• </a:t>
            </a:r>
            <a:r>
              <a:rPr sz="1100" b="1">
                <a:solidFill>
                  <a:srgbClr val="2C2C2C"/>
                </a:solidFill>
                <a:latin typeface="Calibri"/>
              </a:rPr>
              <a:t>PII off</a:t>
            </a:r>
            <a:r>
              <a:rPr sz="1100">
                <a:solidFill>
                  <a:srgbClr val="666666"/>
                </a:solidFill>
                <a:latin typeface="Calibri"/>
              </a:rPr>
              <a:t> — isSendDefaultPii=false trong release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362D59"/>
                </a:solidFill>
              </a:rPr>
              <a:t>• </a:t>
            </a:r>
            <a:r>
              <a:rPr sz="1100" b="1">
                <a:solidFill>
                  <a:srgbClr val="2C2C2C"/>
                </a:solidFill>
                <a:latin typeface="Calibri"/>
              </a:rPr>
              <a:t>Spike protection</a:t>
            </a:r>
            <a:r>
              <a:rPr sz="1100">
                <a:solidFill>
                  <a:srgbClr val="666666"/>
                </a:solidFill>
                <a:latin typeface="Calibri"/>
              </a:rPr>
              <a:t> — per-project rate limit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794760" cy="457200"/>
          </a:xfrm>
          <a:prstGeom prst="rect">
            <a:avLst/>
          </a:prstGeom>
          <a:solidFill>
            <a:srgbClr val="F1B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371600"/>
            <a:ext cx="3794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  Độ tin cậy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3794760" cy="448056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965960"/>
            <a:ext cx="352044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362D59"/>
                </a:solidFill>
              </a:rPr>
              <a:t>• </a:t>
            </a:r>
            <a:r>
              <a:rPr sz="1100" b="1">
                <a:solidFill>
                  <a:srgbClr val="2C2C2C"/>
                </a:solidFill>
                <a:latin typeface="Calibri"/>
              </a:rPr>
              <a:t>Backup tự động</a:t>
            </a:r>
            <a:r>
              <a:rPr sz="1100">
                <a:solidFill>
                  <a:srgbClr val="666666"/>
                </a:solidFill>
                <a:latin typeface="Calibri"/>
              </a:rPr>
              <a:t> — Postgres + Clickhouse + .env hàng ngày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362D59"/>
                </a:solidFill>
              </a:rPr>
              <a:t>• </a:t>
            </a:r>
            <a:r>
              <a:rPr sz="1100" b="1">
                <a:solidFill>
                  <a:srgbClr val="2C2C2C"/>
                </a:solidFill>
                <a:latin typeface="Calibri"/>
              </a:rPr>
              <a:t>Test restore drill</a:t>
            </a:r>
            <a:r>
              <a:rPr sz="1100">
                <a:solidFill>
                  <a:srgbClr val="666666"/>
                </a:solidFill>
                <a:latin typeface="Calibri"/>
              </a:rPr>
              <a:t> — quarterly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362D59"/>
                </a:solidFill>
              </a:rPr>
              <a:t>• </a:t>
            </a:r>
            <a:r>
              <a:rPr sz="1100" b="1">
                <a:solidFill>
                  <a:srgbClr val="2C2C2C"/>
                </a:solidFill>
                <a:latin typeface="Calibri"/>
              </a:rPr>
              <a:t>Resource limits</a:t>
            </a:r>
            <a:r>
              <a:rPr sz="1100">
                <a:solidFill>
                  <a:srgbClr val="666666"/>
                </a:solidFill>
                <a:latin typeface="Calibri"/>
              </a:rPr>
              <a:t> — mem_limit/cpus cho mỗi container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362D59"/>
                </a:solidFill>
              </a:rPr>
              <a:t>• </a:t>
            </a:r>
            <a:r>
              <a:rPr sz="1100" b="1">
                <a:solidFill>
                  <a:srgbClr val="2C2C2C"/>
                </a:solidFill>
                <a:latin typeface="Calibri"/>
              </a:rPr>
              <a:t>Log rotation đầy đủ</a:t>
            </a:r>
            <a:r>
              <a:rPr sz="1100">
                <a:solidFill>
                  <a:srgbClr val="666666"/>
                </a:solidFill>
                <a:latin typeface="Calibri"/>
              </a:rPr>
              <a:t> — tất cả snuba-* consumers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362D59"/>
                </a:solidFill>
              </a:rPr>
              <a:t>• </a:t>
            </a:r>
            <a:r>
              <a:rPr sz="1100" b="1">
                <a:solidFill>
                  <a:srgbClr val="2C2C2C"/>
                </a:solidFill>
                <a:latin typeface="Calibri"/>
              </a:rPr>
              <a:t>Healthcheck wait</a:t>
            </a:r>
            <a:r>
              <a:rPr sz="1100">
                <a:solidFill>
                  <a:srgbClr val="666666"/>
                </a:solidFill>
                <a:latin typeface="Calibri"/>
              </a:rPr>
              <a:t> — trước khi mark deploy success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362D59"/>
                </a:solidFill>
              </a:rPr>
              <a:t>• </a:t>
            </a:r>
            <a:r>
              <a:rPr sz="1100" b="1">
                <a:solidFill>
                  <a:srgbClr val="2C2C2C"/>
                </a:solidFill>
                <a:latin typeface="Calibri"/>
              </a:rPr>
              <a:t>Restart policy</a:t>
            </a:r>
            <a:r>
              <a:rPr sz="1100">
                <a:solidFill>
                  <a:srgbClr val="666666"/>
                </a:solidFill>
                <a:latin typeface="Calibri"/>
              </a:rPr>
              <a:t> — unless-stopped trên tất cả services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362D59"/>
                </a:solidFill>
              </a:rPr>
              <a:t>• </a:t>
            </a:r>
            <a:r>
              <a:rPr sz="1100" b="1">
                <a:solidFill>
                  <a:srgbClr val="2C2C2C"/>
                </a:solidFill>
                <a:latin typeface="Calibri"/>
              </a:rPr>
              <a:t>Disk monitoring</a:t>
            </a:r>
            <a:r>
              <a:rPr sz="1100">
                <a:solidFill>
                  <a:srgbClr val="666666"/>
                </a:solidFill>
                <a:latin typeface="Calibri"/>
              </a:rPr>
              <a:t> — alert khi &gt;80% full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794760" cy="4572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371600"/>
            <a:ext cx="3794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  Quan sát Sentry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3794760" cy="448056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965960"/>
            <a:ext cx="352044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362D59"/>
                </a:solidFill>
              </a:rPr>
              <a:t>• </a:t>
            </a:r>
            <a:r>
              <a:rPr sz="1100" b="1">
                <a:solidFill>
                  <a:srgbClr val="2C2C2C"/>
                </a:solidFill>
                <a:latin typeface="Calibri"/>
              </a:rPr>
              <a:t>Meta-Sentry / GlitchTip</a:t>
            </a:r>
            <a:r>
              <a:rPr sz="1100">
                <a:solidFill>
                  <a:srgbClr val="666666"/>
                </a:solidFill>
                <a:latin typeface="Calibri"/>
              </a:rPr>
              <a:t> — monitor chính cái Sentry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362D59"/>
                </a:solidFill>
              </a:rPr>
              <a:t>• </a:t>
            </a:r>
            <a:r>
              <a:rPr sz="1100" b="1">
                <a:solidFill>
                  <a:srgbClr val="2C2C2C"/>
                </a:solidFill>
                <a:latin typeface="Calibri"/>
              </a:rPr>
              <a:t>Prometheus exporters</a:t>
            </a:r>
            <a:r>
              <a:rPr sz="1100">
                <a:solidFill>
                  <a:srgbClr val="666666"/>
                </a:solidFill>
                <a:latin typeface="Calibri"/>
              </a:rPr>
              <a:t> — postgres, kafka, clickhouse, node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362D59"/>
                </a:solidFill>
              </a:rPr>
              <a:t>• </a:t>
            </a:r>
            <a:r>
              <a:rPr sz="1100" b="1">
                <a:solidFill>
                  <a:srgbClr val="2C2C2C"/>
                </a:solidFill>
                <a:latin typeface="Calibri"/>
              </a:rPr>
              <a:t>External uptime probe</a:t>
            </a:r>
            <a:r>
              <a:rPr sz="1100">
                <a:solidFill>
                  <a:srgbClr val="666666"/>
                </a:solidFill>
                <a:latin typeface="Calibri"/>
              </a:rPr>
              <a:t> — GET /_health/ mỗi phút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362D59"/>
                </a:solidFill>
              </a:rPr>
              <a:t>• </a:t>
            </a:r>
            <a:r>
              <a:rPr sz="1100" b="1">
                <a:solidFill>
                  <a:srgbClr val="2C2C2C"/>
                </a:solidFill>
                <a:latin typeface="Calibri"/>
              </a:rPr>
              <a:t>Alertmanager → Slack</a:t>
            </a:r>
            <a:r>
              <a:rPr sz="1100">
                <a:solidFill>
                  <a:srgbClr val="666666"/>
                </a:solidFill>
                <a:latin typeface="Calibri"/>
              </a:rPr>
              <a:t> — low disk, lag consumer, OOM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362D59"/>
                </a:solidFill>
              </a:rPr>
              <a:t>• </a:t>
            </a:r>
            <a:r>
              <a:rPr sz="1100" b="1">
                <a:solidFill>
                  <a:srgbClr val="2C2C2C"/>
                </a:solidFill>
                <a:latin typeface="Calibri"/>
              </a:rPr>
              <a:t>Retention SLO</a:t>
            </a:r>
            <a:r>
              <a:rPr sz="1100">
                <a:solidFill>
                  <a:srgbClr val="666666"/>
                </a:solidFill>
                <a:latin typeface="Calibri"/>
              </a:rPr>
              <a:t> — 30 ngày events, 90 ngày issues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362D59"/>
                </a:solidFill>
              </a:rPr>
              <a:t>• </a:t>
            </a:r>
            <a:r>
              <a:rPr sz="1100" b="1">
                <a:solidFill>
                  <a:srgbClr val="2C2C2C"/>
                </a:solidFill>
                <a:latin typeface="Calibri"/>
              </a:rPr>
              <a:t>Capacity dashboards</a:t>
            </a:r>
            <a:r>
              <a:rPr sz="1100">
                <a:solidFill>
                  <a:srgbClr val="666666"/>
                </a:solidFill>
                <a:latin typeface="Calibri"/>
              </a:rPr>
              <a:t> — events/sec, p95 query time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362D59"/>
                </a:solidFill>
              </a:rPr>
              <a:t>• </a:t>
            </a:r>
            <a:r>
              <a:rPr sz="1100" b="1">
                <a:solidFill>
                  <a:srgbClr val="2C2C2C"/>
                </a:solidFill>
                <a:latin typeface="Calibri"/>
              </a:rPr>
              <a:t>Runbook ready</a:t>
            </a:r>
            <a:r>
              <a:rPr sz="1100">
                <a:solidFill>
                  <a:srgbClr val="666666"/>
                </a:solidFill>
                <a:latin typeface="Calibri"/>
              </a:rPr>
              <a:t> — disk full, kafka lag, web stuck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Sentry Self-Host · Infra Deployment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F1B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Capacity planning · 5k → 10k thiết bị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Ước tính traffic, sizing, chi phí storage, scale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362D59"/>
                </a:solidFill>
                <a:latin typeface="Calibri"/>
              </a:rPr>
              <a:t>Ước tính lưu lượng event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  <a:gridCol w="2560320"/>
                <a:gridCol w="3383280"/>
              </a:tblGrid>
              <a:tr h="326571">
                <a:tc>
                  <a:txBody>
                    <a:bodyPr lIns="73152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362D59"/>
                    </a:solidFill>
                  </a:tcPr>
                </a:tc>
                <a:tc>
                  <a:txBody>
                    <a:bodyPr lIns="73152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5,000 devices</a:t>
                      </a:r>
                    </a:p>
                  </a:txBody>
                  <a:tcPr>
                    <a:solidFill>
                      <a:srgbClr val="362D59"/>
                    </a:solidFill>
                  </a:tcPr>
                </a:tc>
                <a:tc>
                  <a:txBody>
                    <a:bodyPr lIns="73152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10,000 devices</a:t>
                      </a:r>
                    </a:p>
                  </a:txBody>
                  <a:tcPr>
                    <a:solidFill>
                      <a:srgbClr val="362D59"/>
                    </a:solidFill>
                  </a:tcPr>
                </a:tc>
                <a:tc>
                  <a:txBody>
                    <a:bodyPr lIns="73152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Ghi chú</a:t>
                      </a:r>
                    </a:p>
                  </a:txBody>
                  <a:tcPr>
                    <a:solidFill>
                      <a:srgbClr val="362D59"/>
                    </a:solidFill>
                  </a:tcPr>
                </a:tc>
              </a:tr>
              <a:tr h="326571">
                <a:tc>
                  <a:txBody>
                    <a:bodyPr lIns="73152" tIns="36576" bIns="36576"/>
                    <a:lstStyle/>
                    <a:p>
                      <a:r>
                        <a:rPr sz="1100" b="1">
                          <a:solidFill>
                            <a:srgbClr val="2C2C2C"/>
                          </a:solidFill>
                          <a:latin typeface="Calibri"/>
                        </a:rPr>
                        <a:t>Baseline events/day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bIns="36576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~1,500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bIns="36576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~3,000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bIns="36576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0.3 events/device/day (active reporting)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lIns="73152" tIns="36576" bIns="36576"/>
                    <a:lstStyle/>
                    <a:p>
                      <a:r>
                        <a:rPr sz="1100" b="1">
                          <a:solidFill>
                            <a:srgbClr val="2C2C2C"/>
                          </a:solidFill>
                          <a:latin typeface="Calibri"/>
                        </a:rPr>
                        <a:t>Peak rate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 lIns="73152" tIns="36576" bIns="36576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~50/min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 lIns="73152" tIns="36576" bIns="36576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~100/min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 lIns="73152" tIns="36576" bIns="36576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Đầu giờ làm việc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</a:tr>
              <a:tr h="326571">
                <a:tc>
                  <a:txBody>
                    <a:bodyPr lIns="73152" tIns="36576" bIns="36576"/>
                    <a:lstStyle/>
                    <a:p>
                      <a:r>
                        <a:rPr sz="1100" b="1">
                          <a:solidFill>
                            <a:srgbClr val="2C2C2C"/>
                          </a:solidFill>
                          <a:latin typeface="Calibri"/>
                        </a:rPr>
                        <a:t>Spike (bad release)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bIns="36576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~500/min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bIns="36576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~1,000/min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bIns="36576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5–10 phút sau khi rollout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lIns="73152" tIns="36576" bIns="36576"/>
                    <a:lstStyle/>
                    <a:p>
                      <a:r>
                        <a:rPr sz="1100" b="1">
                          <a:solidFill>
                            <a:srgbClr val="2C2C2C"/>
                          </a:solidFill>
                          <a:latin typeface="Calibri"/>
                        </a:rPr>
                        <a:t>Disk events/tháng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 lIns="73152" tIns="36576" bIns="36576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~15 GB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 lIns="73152" tIns="36576" bIns="36576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~30 GB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 lIns="73152" tIns="36576" bIns="36576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Clickhouse compressed, retention 30 ngày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</a:tr>
              <a:tr h="326571">
                <a:tc>
                  <a:txBody>
                    <a:bodyPr lIns="73152" tIns="36576" bIns="36576"/>
                    <a:lstStyle/>
                    <a:p>
                      <a:r>
                        <a:rPr sz="1100" b="1">
                          <a:solidFill>
                            <a:srgbClr val="2C2C2C"/>
                          </a:solidFill>
                          <a:latin typeface="Calibri"/>
                        </a:rPr>
                        <a:t>Disk total/tháng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bIns="36576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~25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bIns="36576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~50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bIns="36576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Bao gồm Postgres, Kafka, attachments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4">
                <a:tc>
                  <a:txBody>
                    <a:bodyPr lIns="73152" tIns="36576" bIns="36576"/>
                    <a:lstStyle/>
                    <a:p>
                      <a:r>
                        <a:rPr sz="1100" b="1">
                          <a:solidFill>
                            <a:srgbClr val="2C2C2C"/>
                          </a:solidFill>
                          <a:latin typeface="Calibri"/>
                        </a:rPr>
                        <a:t>Egress bandwidth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 lIns="73152" tIns="36576" bIns="36576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~2 GB/day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 lIns="73152" tIns="36576" bIns="36576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~5 GB/day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 lIns="73152" tIns="36576" bIns="36576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Events upload, ~1.5 KB/event avg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206240"/>
            <a:ext cx="5486400" cy="224028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62D59"/>
                </a:solidFill>
                <a:latin typeface="Calibri"/>
              </a:rPr>
              <a:t>Sizing khuyến nghị (single host)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09160"/>
            <a:ext cx="530352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5k devices</a:t>
            </a:r>
            <a:r>
              <a:rPr sz="1200">
                <a:solidFill>
                  <a:srgbClr val="666666"/>
                </a:solidFill>
                <a:latin typeface="Calibri"/>
              </a:rPr>
              <a:t> — 8 cores · 32 GB RAM · 200 GB SSD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10k devices</a:t>
            </a:r>
            <a:r>
              <a:rPr sz="1200">
                <a:solidFill>
                  <a:srgbClr val="666666"/>
                </a:solidFill>
                <a:latin typeface="Calibri"/>
              </a:rPr>
              <a:t> — 8–16 cores · 32–64 GB RAM · 500 GB SSD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Sampling</a:t>
            </a:r>
            <a:r>
              <a:rPr sz="1200">
                <a:solidFill>
                  <a:srgbClr val="666666"/>
                </a:solidFill>
                <a:latin typeface="Calibri"/>
              </a:rPr>
              <a:t> — tracesSampleRate=0.1, profilesSampleRate=0.05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Retention</a:t>
            </a:r>
            <a:r>
              <a:rPr sz="1200">
                <a:solidFill>
                  <a:srgbClr val="666666"/>
                </a:solidFill>
                <a:latin typeface="Calibri"/>
              </a:rPr>
              <a:t> — events 30 ngày, issues 90 ngày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Headroom</a:t>
            </a:r>
            <a:r>
              <a:rPr sz="1200">
                <a:solidFill>
                  <a:srgbClr val="666666"/>
                </a:solidFill>
                <a:latin typeface="Calibri"/>
              </a:rPr>
              <a:t> — +30–50% buffer cho release spike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4206240"/>
            <a:ext cx="5486400" cy="224028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976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62D59"/>
                </a:solidFill>
                <a:latin typeface="Calibri"/>
              </a:rPr>
              <a:t>Scale path khi vượt 10k devices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709160"/>
            <a:ext cx="530352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Vertical scale</a:t>
            </a:r>
            <a:r>
              <a:rPr sz="1200">
                <a:solidFill>
                  <a:srgbClr val="666666"/>
                </a:solidFill>
                <a:latin typeface="Calibri"/>
              </a:rPr>
              <a:t> — lên 64 GB / 16 cores trước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External Postgres</a:t>
            </a:r>
            <a:r>
              <a:rPr sz="1200">
                <a:solidFill>
                  <a:srgbClr val="666666"/>
                </a:solidFill>
                <a:latin typeface="Calibri"/>
              </a:rPr>
              <a:t> — RDS / Cloud SQL với HA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External Clickhouse</a:t>
            </a:r>
            <a:r>
              <a:rPr sz="1200">
                <a:solidFill>
                  <a:srgbClr val="666666"/>
                </a:solidFill>
                <a:latin typeface="Calibri"/>
              </a:rPr>
              <a:t> — ClickHouse Cloud cho &gt;100k events/day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External Kafka</a:t>
            </a:r>
            <a:r>
              <a:rPr sz="1200">
                <a:solidFill>
                  <a:srgbClr val="666666"/>
                </a:solidFill>
                <a:latin typeface="Calibri"/>
              </a:rPr>
              <a:t> — MSK / Confluent Cloud nếu lag persistent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Horizontal workers</a:t>
            </a:r>
            <a:r>
              <a:rPr sz="1200">
                <a:solidFill>
                  <a:srgbClr val="666666"/>
                </a:solidFill>
                <a:latin typeface="Calibri"/>
              </a:rPr>
              <a:t> — scale snuba-consumers theo Kafka lag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Sentry Self-Host · Infra Deployment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F1B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Phương án thay thế · GlitchTip backend + Sentry SDK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Client KHÔNG đổi code · backend nhẹ hơn 10x · chỉ thiếu APM/Performance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41148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  GlitchTip là gì?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5212080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  <a:latin typeface="Calibri"/>
              </a:rPr>
              <a:t>Open-source error tracker, Sentry-API compatible. Nhận envelope giống Sentry, nên client Android không cần đổi SDK hay đổi code — chỉ cần đổi DSN. Footprint nhỏ hơn 10x: Django + Celery + Postgres + Redis (không có Kafka/Clickhouse).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62D59"/>
                </a:solidFill>
                <a:latin typeface="Calibri"/>
              </a:rPr>
              <a:t>Trade-offs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657600"/>
          <a:ext cx="5486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371600"/>
              </a:tblGrid>
              <a:tr h="310896">
                <a:tc>
                  <a:txBody>
                    <a:bodyPr lIns="73152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362D59"/>
                    </a:solidFill>
                  </a:tcPr>
                </a:tc>
                <a:tc>
                  <a:txBody>
                    <a:bodyPr lIns="73152" tIns="18288" bIns="18288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Sentry</a:t>
                      </a:r>
                    </a:p>
                  </a:txBody>
                  <a:tcPr>
                    <a:solidFill>
                      <a:srgbClr val="362D59"/>
                    </a:solidFill>
                  </a:tcPr>
                </a:tc>
                <a:tc>
                  <a:txBody>
                    <a:bodyPr lIns="73152" tIns="18288" bIns="18288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GlitchTip</a:t>
                      </a:r>
                    </a:p>
                  </a:txBody>
                  <a:tcPr>
                    <a:solidFill>
                      <a:srgbClr val="362D59"/>
                    </a:solidFill>
                  </a:tcPr>
                </a:tc>
              </a:tr>
              <a:tr h="310896">
                <a:tc>
                  <a:txBody>
                    <a:bodyPr lIns="73152" tIns="18288" bIns="18288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Issues / Crash / ANR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 bIns="18288"/>
                    <a:lstStyle/>
                    <a:p>
                      <a:pPr algn="ctr"/>
                      <a:r>
                        <a:rPr sz="1100" b="1">
                          <a:solidFill>
                            <a:srgbClr val="1E8E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 bIns="18288"/>
                    <a:lstStyle/>
                    <a:p>
                      <a:pPr algn="ctr"/>
                      <a:r>
                        <a:rPr sz="1100" b="1">
                          <a:solidFill>
                            <a:srgbClr val="1E8E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73152" tIns="18288" bIns="18288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Breadcrumbs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 lIns="73152" tIns="18288" bIns="18288"/>
                    <a:lstStyle/>
                    <a:p>
                      <a:pPr algn="ctr"/>
                      <a:r>
                        <a:rPr sz="1100" b="1">
                          <a:solidFill>
                            <a:srgbClr val="1E8E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 lIns="73152" tIns="18288" bIns="18288"/>
                    <a:lstStyle/>
                    <a:p>
                      <a:pPr algn="ctr"/>
                      <a:r>
                        <a:rPr sz="1100" b="1">
                          <a:solidFill>
                            <a:srgbClr val="1E8E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</a:tr>
              <a:tr h="310896">
                <a:tc>
                  <a:txBody>
                    <a:bodyPr lIns="73152" tIns="18288" bIns="18288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Releases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 bIns="18288"/>
                    <a:lstStyle/>
                    <a:p>
                      <a:pPr algn="ctr"/>
                      <a:r>
                        <a:rPr sz="1100" b="1">
                          <a:solidFill>
                            <a:srgbClr val="1E8E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 bIns="18288"/>
                    <a:lstStyle/>
                    <a:p>
                      <a:pPr algn="ctr"/>
                      <a:r>
                        <a:rPr sz="1100" b="1">
                          <a:solidFill>
                            <a:srgbClr val="1E8E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73152" tIns="18288" bIns="18288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Alerts (email/webhook)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 lIns="73152" tIns="18288" bIns="18288"/>
                    <a:lstStyle/>
                    <a:p>
                      <a:pPr algn="ctr"/>
                      <a:r>
                        <a:rPr sz="1100" b="1">
                          <a:solidFill>
                            <a:srgbClr val="1E8E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 lIns="73152" tIns="18288" bIns="18288"/>
                    <a:lstStyle/>
                    <a:p>
                      <a:pPr algn="ctr"/>
                      <a:r>
                        <a:rPr sz="1100" b="1">
                          <a:solidFill>
                            <a:srgbClr val="1E8E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</a:tr>
              <a:tr h="310896">
                <a:tc>
                  <a:txBody>
                    <a:bodyPr lIns="73152" tIns="18288" bIns="18288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Performance / Transactions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 bIns="18288"/>
                    <a:lstStyle/>
                    <a:p>
                      <a:pPr algn="ctr"/>
                      <a:r>
                        <a:rPr sz="1100" b="1">
                          <a:solidFill>
                            <a:srgbClr val="1E8E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 bIns="18288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73152" tIns="18288" bIns="18288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Profiling (flame graph)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 lIns="73152" tIns="18288" bIns="18288"/>
                    <a:lstStyle/>
                    <a:p>
                      <a:pPr algn="ctr"/>
                      <a:r>
                        <a:rPr sz="1100" b="1">
                          <a:solidFill>
                            <a:srgbClr val="1E8E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 lIns="73152" tIns="18288" bIns="18288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</a:tr>
              <a:tr h="310896">
                <a:tc>
                  <a:txBody>
                    <a:bodyPr lIns="73152" tIns="18288" bIns="18288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Session Replay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 bIns="18288"/>
                    <a:lstStyle/>
                    <a:p>
                      <a:pPr algn="ctr"/>
                      <a:r>
                        <a:rPr sz="1100" b="1">
                          <a:solidFill>
                            <a:srgbClr val="1E8E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 bIns="18288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73152" tIns="18288" bIns="18288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Source maps / ProGuard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 lIns="73152" tIns="18288" bIns="18288"/>
                    <a:lstStyle/>
                    <a:p>
                      <a:pPr algn="ctr"/>
                      <a:r>
                        <a:rPr sz="1100" b="1">
                          <a:solidFill>
                            <a:srgbClr val="1E8E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 lIns="73152" tIns="18288" bIns="18288"/>
                    <a:lstStyle/>
                    <a:p>
                      <a:pPr algn="ctr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✓ (basic)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</a:tr>
              <a:tr h="310896">
                <a:tc>
                  <a:txBody>
                    <a:bodyPr lIns="73152" tIns="18288" bIns="18288"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Uptime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 bIns="18288"/>
                    <a:lstStyle/>
                    <a:p>
                      <a:pPr algn="ctr"/>
                      <a:r>
                        <a:rPr sz="1100" b="1">
                          <a:solidFill>
                            <a:srgbClr val="1E8E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18288" bIns="18288"/>
                    <a:lstStyle/>
                    <a:p>
                      <a:pPr algn="ctr"/>
                      <a:r>
                        <a:rPr sz="1100" b="1">
                          <a:solidFill>
                            <a:srgbClr val="1E8E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63640" y="13716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62D59"/>
                </a:solidFill>
                <a:latin typeface="Calibri"/>
              </a:rPr>
              <a:t>So sánh tài nguyên (cùng workload)</a:t>
            </a:r>
          </a:p>
        </p:txBody>
      </p:sp>
      <p:pic>
        <p:nvPicPr>
          <p:cNvPr id="12" name="Picture 11" descr="8c1bdf8319468d4aee6d8002d7be2b20adb320dc0cd6ebe4f29a991285a7af5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37360"/>
            <a:ext cx="5486400" cy="210540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263640" y="3749040"/>
            <a:ext cx="5486400" cy="41148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749040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  Sizing GlitchTip cho 5–10k devices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51960"/>
            <a:ext cx="52120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CPU</a:t>
            </a:r>
            <a:r>
              <a:rPr sz="1200">
                <a:solidFill>
                  <a:srgbClr val="666666"/>
                </a:solidFill>
                <a:latin typeface="Calibri"/>
              </a:rPr>
              <a:t> — 2–4 cores đủ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RAM</a:t>
            </a:r>
            <a:r>
              <a:rPr sz="1200">
                <a:solidFill>
                  <a:srgbClr val="666666"/>
                </a:solidFill>
                <a:latin typeface="Calibri"/>
              </a:rPr>
              <a:t> — 4–8 GB (so với 32 GB của Sentry)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Disk</a:t>
            </a:r>
            <a:r>
              <a:rPr sz="1200">
                <a:solidFill>
                  <a:srgbClr val="666666"/>
                </a:solidFill>
                <a:latin typeface="Calibri"/>
              </a:rPr>
              <a:t> — 50–100 GB SSD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Host cost</a:t>
            </a:r>
            <a:r>
              <a:rPr sz="1200">
                <a:solidFill>
                  <a:srgbClr val="666666"/>
                </a:solidFill>
                <a:latin typeface="Calibri"/>
              </a:rPr>
              <a:t> — ~1/5 đến 1/10 so với Sentry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362D59"/>
                </a:solidFill>
              </a:rPr>
              <a:t>• </a:t>
            </a:r>
            <a:r>
              <a:rPr sz="1200" b="0">
                <a:solidFill>
                  <a:srgbClr val="2C2C2C"/>
                </a:solidFill>
                <a:latin typeface="Calibri"/>
              </a:rPr>
              <a:t>Setup</a:t>
            </a:r>
            <a:r>
              <a:rPr sz="1200">
                <a:solidFill>
                  <a:srgbClr val="666666"/>
                </a:solidFill>
                <a:latin typeface="Calibri"/>
              </a:rPr>
              <a:t> — docker-compose ~5 phút, không có Kafka/Clickhouse warm-up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Sentry Self-Host · Infra Deployment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F1B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Quyết định &amp; Lộ trình triển khai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Khi nào chọn cái nào · Phased rollout cho 5k → 10k devices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362D59"/>
                </a:solidFill>
                <a:latin typeface="Calibri"/>
              </a:rPr>
              <a:t>Decision matrix — chọn backend nào?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1645920"/>
                <a:gridCol w="4572000"/>
              </a:tblGrid>
              <a:tr h="396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Nếu nhu cầu là...</a:t>
                      </a:r>
                    </a:p>
                  </a:txBody>
                  <a:tcPr>
                    <a:solidFill>
                      <a:srgbClr val="362D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Chọn</a:t>
                      </a:r>
                    </a:p>
                  </a:txBody>
                  <a:tcPr>
                    <a:solidFill>
                      <a:srgbClr val="362D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Lý do</a:t>
                      </a:r>
                    </a:p>
                  </a:txBody>
                  <a:tcPr>
                    <a:solidFill>
                      <a:srgbClr val="362D5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Chỉ cần crash + ANR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8E3E"/>
                          </a:solidFill>
                          <a:latin typeface="Calibri"/>
                        </a:rPr>
                        <a:t>GlitchTip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Footprint 1/10, đủ 95% use case crash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Cần Performance / Profiling / Replay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62D59"/>
                          </a:solidFill>
                          <a:latin typeface="Calibri"/>
                        </a:rPr>
                        <a:t>Sentry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GlitchTip không hỗ trợ APM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Budget thấp, dưới 10k devices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8E3E"/>
                          </a:solidFill>
                          <a:latin typeface="Calibri"/>
                        </a:rPr>
                        <a:t>GlitchTip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Chi phí infra giảm 70–80%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Có team SRE dedicated, scale lớn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62D59"/>
                          </a:solidFill>
                          <a:latin typeface="Calibri"/>
                        </a:rPr>
                        <a:t>Sentry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Có path scale ra &gt;100k devices</a:t>
                      </a:r>
                    </a:p>
                  </a:txBody>
                  <a:tcPr>
                    <a:solidFill>
                      <a:srgbClr val="F6F4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Cân bằng: errors + 1 ít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1B71C"/>
                          </a:solidFill>
                          <a:latin typeface="Calibri"/>
                        </a:rPr>
                        <a:t>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GlitchTip cho prod, Sentry cho staging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2976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362D59"/>
                </a:solidFill>
                <a:latin typeface="Calibri"/>
              </a:rPr>
              <a:t>Lộ trình triển khai đề xuất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127" y="4663440"/>
            <a:ext cx="2194560" cy="36576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127" y="466344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  Tuần 1–2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127" y="5029200"/>
            <a:ext cx="2194560" cy="146304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567" y="507492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62D59"/>
                </a:solidFill>
                <a:latin typeface="Calibri"/>
              </a:rPr>
              <a:t>PoC trên staging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567" y="5440680"/>
            <a:ext cx="201168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Calibri"/>
              </a:rPr>
              <a:t>Dựng cả 2 backend, integrate vào staging APK, test 4 signals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66847" y="4663440"/>
            <a:ext cx="2194560" cy="36576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66847" y="466344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  Tuần 3–4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6847" y="5029200"/>
            <a:ext cx="2194560" cy="146304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58287" y="507492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62D59"/>
                </a:solidFill>
                <a:latin typeface="Calibri"/>
              </a:rPr>
              <a:t>Quyết định &amp; hardening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58287" y="5440680"/>
            <a:ext cx="201168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Calibri"/>
              </a:rPr>
              <a:t>Chọn 1 phương án, apply checklist (TLS, backup, monitoring)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98567" y="4663440"/>
            <a:ext cx="2194560" cy="36576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98567" y="466344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  Tuần 5–6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98567" y="5029200"/>
            <a:ext cx="2194560" cy="146304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90007" y="507492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62D59"/>
                </a:solidFill>
                <a:latin typeface="Calibri"/>
              </a:rPr>
              <a:t>Pilot 500 devices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0007" y="5440680"/>
            <a:ext cx="201168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Calibri"/>
              </a:rPr>
              <a:t>Beta channel, theo dõi ingestion rate, độ chính xác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30287" y="4663440"/>
            <a:ext cx="2194560" cy="36576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30287" y="466344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  Tháng 2–3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30287" y="5029200"/>
            <a:ext cx="2194560" cy="146304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21727" y="507492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62D59"/>
                </a:solidFill>
                <a:latin typeface="Calibri"/>
              </a:rPr>
              <a:t>Rollout full 5k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1727" y="5440680"/>
            <a:ext cx="201168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Calibri"/>
              </a:rPr>
              <a:t>Phased: 10% → 50% → 100%, alert thresholds calibrated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62007" y="4663440"/>
            <a:ext cx="2194560" cy="36576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62007" y="466344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  Q3–Q4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62007" y="5029200"/>
            <a:ext cx="2194560" cy="146304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53447" y="507492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62D59"/>
                </a:solidFill>
                <a:latin typeface="Calibri"/>
              </a:rPr>
              <a:t>Scale lên 10k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3447" y="5440680"/>
            <a:ext cx="201168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Calibri"/>
              </a:rPr>
              <a:t>Vertical scale + retention tuning, evaluate external services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62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Sentry Self-Host · Infra Deployment Plan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